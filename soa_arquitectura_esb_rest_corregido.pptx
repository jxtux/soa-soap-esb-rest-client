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97312" y="777240"/>
            <a:ext cx="164592" cy="489204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1234440"/>
            <a:ext cx="164592" cy="3977640"/>
          </a:xfrm>
          <a:prstGeom prst="rect">
            <a:avLst/>
          </a:prstGeom>
          <a:solidFill>
            <a:srgbClr val="0FBCD4"/>
          </a:solidFill>
          <a:ln w="12700">
            <a:solidFill>
              <a:srgbClr val="0FBCD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7043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SOA con ESB, SOAP y Cliente REST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04088" y="25146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Diseño de una solución orientada a servicios con integración centralizada, seguridad, trazabilidad, gobernanza y despliegue en Docker.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0690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EAF1FF"/>
          </a:solidFill>
          <a:ln w="15875">
            <a:solidFill>
              <a:srgbClr val="0F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24528"/>
            <a:ext cx="1554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Client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97480" y="4462272"/>
            <a:ext cx="11430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77640" y="3913632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E63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4069080"/>
            <a:ext cx="1737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142232" y="4434840"/>
            <a:ext cx="17739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integración SOA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199632" y="4462272"/>
            <a:ext cx="11887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16368" y="4069080"/>
            <a:ext cx="2240280" cy="777240"/>
          </a:xfrm>
          <a:prstGeom prst="roundRect">
            <a:avLst>
              <a:gd name="adj" fmla="val 14118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4224528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SOAP Services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6126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Partidos • Selecciones • Estadísticas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solución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una infraestructura SOA con servicios SOAP, ESB y cliente REST, desplegada en contenedores independientes.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481328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340864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3230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059936"/>
            <a:ext cx="566928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51376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89888" y="14813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Exponer 3 servicios SOAP autónomos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89888" y="1810512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Partidos, Selecciones y Estadísticas: cada uno con contrato SOAP, data local y Docker propio.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89888" y="234086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Centralizar la integración en el ESB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89888" y="2670048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El ESB aplica enrutamiento, transformación, seguridad, logs, trazabilidad, reintentos y gobierno.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89888" y="32004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Aislar al consumidor externo de SOAP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89888" y="3529584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El cliente REST no conoce WSDL, XML ni SOAP Envelope; solo consume JSON.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405993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F"/>
                </a:solidFill>
              </a:rPr>
              <a:t>Mantener estilo microservicios en negocio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89888" y="4389120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Cada SOAP es independiente; solo la integración sigue el patrón SOA con ESB.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41080" y="1417320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1572768"/>
            <a:ext cx="2148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objetivo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902952" y="2148840"/>
            <a:ext cx="0" cy="521208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41080" y="2761488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2916936"/>
            <a:ext cx="2148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 + ESB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902952" y="3493008"/>
            <a:ext cx="0" cy="512064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41080" y="4096512"/>
            <a:ext cx="2514600" cy="65836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4251960"/>
            <a:ext cx="2148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SOAP + REST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Estilo arquitectónico SOA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solución separa capacidades de negocio como servicios y centraliza la integración mediante un bus.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 con contrato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1938528"/>
            <a:ext cx="2642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Cada servicio publica un contrato SOAP/WSDL para definir operaciones y mensajes.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Bajo acoplamiento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1938528"/>
            <a:ext cx="2642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Los consumidores no llaman directamente a todos los servicios; pasan por el ESB.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Reutilización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1938528"/>
            <a:ext cx="2642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Las mismas capacidades SOAP pueden alimentar diferentes clientes y procesos.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417320" y="3547872"/>
            <a:ext cx="3154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703320"/>
            <a:ext cx="2788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81912" y="4069080"/>
            <a:ext cx="2825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El ESB combina respuestas de Partidos, Selecciones y Estadísticas.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983480" y="3547872"/>
            <a:ext cx="3154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703320"/>
            <a:ext cx="2788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Gobierno central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8072" y="4069080"/>
            <a:ext cx="282549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Políticas, auditoría, rutas, seguridad y trazabilidad se concentran en el ESB.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803904" y="1874520"/>
            <a:ext cx="65836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16368" y="1874520"/>
            <a:ext cx="65836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90288" y="4023360"/>
            <a:ext cx="32918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280160" y="5394960"/>
            <a:ext cx="9601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SOA no significa “un solo sistema grande”. Significa servicios con responsabilidades claras, integrados mediante contratos y políticas.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general de componentes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principal desde el consumidor REST hasta los servicios SOAP de dominio.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23160" y="2971800"/>
            <a:ext cx="960120" cy="0"/>
          </a:xfrm>
          <a:prstGeom prst="line">
            <a:avLst/>
          </a:prstGeom>
          <a:noFill/>
          <a:ln w="2159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09560" y="2971800"/>
            <a:ext cx="320040" cy="-1088136"/>
          </a:xfrm>
          <a:prstGeom prst="line">
            <a:avLst/>
          </a:prstGeom>
          <a:noFill/>
          <a:ln w="1778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09560" y="2971800"/>
            <a:ext cx="320040" cy="0"/>
          </a:xfrm>
          <a:prstGeom prst="line">
            <a:avLst/>
          </a:prstGeom>
          <a:noFill/>
          <a:ln w="1778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09560" y="2971800"/>
            <a:ext cx="320040" cy="1078992"/>
          </a:xfrm>
          <a:prstGeom prst="line">
            <a:avLst/>
          </a:prstGeom>
          <a:noFill/>
          <a:ln w="1778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2542032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1417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Postman / Frontend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3063240"/>
            <a:ext cx="145389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cliente externo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493008" y="25146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2670048"/>
            <a:ext cx="1463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Client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8090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3035808"/>
            <a:ext cx="1499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consume ESB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358384" y="2971800"/>
            <a:ext cx="585216" cy="0"/>
          </a:xfrm>
          <a:prstGeom prst="line">
            <a:avLst/>
          </a:prstGeom>
          <a:noFill/>
          <a:ln w="2159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0" y="233172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1E63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487168"/>
            <a:ext cx="1463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 Service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8080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99632" y="2852928"/>
            <a:ext cx="14996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integración SOA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302752" y="1508760"/>
            <a:ext cx="20574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1664208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Partidos SOAP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8081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67344" y="2029968"/>
            <a:ext cx="1728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contrato WSDL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8302752" y="2615184"/>
            <a:ext cx="20574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770632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Selecciones SOAP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8082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67344" y="3136392"/>
            <a:ext cx="1728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contrato WSDL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302752" y="3712464"/>
            <a:ext cx="20574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3867912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Estadísticas SOAP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8083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67344" y="4233672"/>
            <a:ext cx="1728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contrato WSDL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Responsabilidades por capa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de responsabilidades para evitar acoplamiento directo entre consumidor y SOAP.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335024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490472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Client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2286000"/>
            <a:ext cx="100584" cy="10058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128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Representa al consumidor externo.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2706624"/>
            <a:ext cx="100584" cy="10058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3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No conoce SOAP ni WSDL.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127248"/>
            <a:ext cx="100584" cy="10058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540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Envía token, certificado simulado y correlation ID al ESB.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45152" y="1335024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490472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0016" y="228600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22128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Centraliza integración SOA.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0016" y="2706624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26334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Aplica seguridad, routing, transformación y reintentos.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0016" y="3127248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0540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Registra logs, auditoría y políticas de gobernanza.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77072" y="1335024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9952" y="1490472"/>
            <a:ext cx="1874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SOAP Services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1936" y="228600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33104" y="22128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Contienen la lógica de negocio.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31936" y="270662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33104" y="26334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Cada uno es autónomo y tiene su contenedor.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631936" y="312724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33104" y="305409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Exponen contratos SOAP/WSDL.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114800" y="1280160"/>
            <a:ext cx="0" cy="338328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1280160"/>
            <a:ext cx="0" cy="338328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5257800"/>
            <a:ext cx="10058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Regla central: SOAP Services = lógica de negocio • ESB = integración y gobierno • REST Client = consumidor externo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 SOAP de negocio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servicios autónomos, cada uno con responsabilidad específica, puerto propio y data local.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10881360" cy="475488"/>
          </a:xfrm>
          <a:prstGeom prst="roundRect">
            <a:avLst>
              <a:gd name="adj" fmla="val 11538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63624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Servicio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008376" y="156362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Puerto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059936" y="1563624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Responsabilidad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631936" y="156362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Datos base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58368" y="1984248"/>
            <a:ext cx="1088136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130552"/>
            <a:ext cx="2057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33F"/>
                </a:solidFill>
              </a:rPr>
              <a:t>Partidos Service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08376" y="2130552"/>
            <a:ext cx="868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8081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59936" y="2130552"/>
            <a:ext cx="4389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Gestiona partidos, fechas, sedes, resultados y estado.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31936" y="2130552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P001–P006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880360"/>
            <a:ext cx="10881360" cy="786384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026664"/>
            <a:ext cx="2057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33F"/>
                </a:solidFill>
              </a:rPr>
              <a:t>Selecciones Service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08376" y="3026664"/>
            <a:ext cx="868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8082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59936" y="3026664"/>
            <a:ext cx="4389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Gestiona países, grupo, ranking, entrenador y confederación.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31936" y="3026664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PER, ARG, BRA, JPN, FRA, ESP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3776472"/>
            <a:ext cx="1088136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922776"/>
            <a:ext cx="2057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33F"/>
                </a:solidFill>
              </a:rPr>
              <a:t>Estadísticas Service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08376" y="3922776"/>
            <a:ext cx="868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8083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59936" y="3922776"/>
            <a:ext cx="4389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Gestiona goles, posesión, remates, faltas, tarjetas y puntos.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31936" y="3922776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por partido y selección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" y="46451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E63FF"/>
                </a:solidFill>
              </a:rPr>
              <a:t>WSDL PUBLICADOS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58368" y="4956048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102352"/>
            <a:ext cx="51937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http://localhost:8081/ws/partidos.wsdl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http://localhost:8082/ws/selecciones.wsdl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http://localhost:8083/ws/estadisticas.wsdl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6629400" y="5010912"/>
            <a:ext cx="4526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</a:rPr>
              <a:t>Los servicios SOAP no se llaman entre sí: la composición la realiza el ESB.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ESB: capacidades implementadas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ESB concentra las responsabilidades transversales de integración SOA.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10896" cy="310896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" y="1495044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207008" y="1325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</a:rPr>
              <a:t>Routing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07008" y="16459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Decide qué SOAP invocar según la ruta REST.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310896" cy="310896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0508" y="1495044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6739128" y="1325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</a:rPr>
              <a:t>Transformación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39128" y="16459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REST/JSON ↔ SOAP/XML y DTOs consolidados.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31520" y="2468880"/>
            <a:ext cx="310896" cy="310896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" y="2546604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3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207008" y="2377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</a:rPr>
              <a:t>Mediación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07008" y="26974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Expone REST y consume SOAP internamente.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2468880"/>
            <a:ext cx="310896" cy="310896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0508" y="2546604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4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739128" y="23774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</a:rPr>
              <a:t>Seguridad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739128" y="26974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Token Bearer + certificado técnico simulado.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31520" y="352044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" y="3598164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5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207008" y="34290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</a:rPr>
              <a:t>Trazabilidad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207008" y="37490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X-Correlation-Id, MDC y propagación a SOAP.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263640" y="352044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0508" y="3598164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6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739128" y="34290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</a:rPr>
              <a:t>Logs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739128" y="37490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Entrada, salida, duración, rutas e intentos.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31520" y="4572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" y="4649724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7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207008" y="4480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</a:rPr>
              <a:t>Reintentos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207008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Reejecuta llamadas SOAP ante fallas temporales.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263640" y="4572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0508" y="4649724"/>
            <a:ext cx="118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8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739128" y="4480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33F"/>
                </a:solidFill>
              </a:rPr>
              <a:t>Gobernanza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6739128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Catálogo, políticas, rutas y auditoría.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técnica: ruta protegida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Doble validación: autenticación por token y confianza técnica por certificado simulado.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48840" y="2926080"/>
            <a:ext cx="1737360" cy="0"/>
          </a:xfrm>
          <a:prstGeom prst="line">
            <a:avLst/>
          </a:prstGeom>
          <a:noFill/>
          <a:ln w="1905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37960" y="2926080"/>
            <a:ext cx="1828800" cy="0"/>
          </a:xfrm>
          <a:prstGeom prst="line">
            <a:avLst/>
          </a:prstGeom>
          <a:noFill/>
          <a:ln w="1905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233172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87168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Consumidor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2852928"/>
            <a:ext cx="10881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Postman / REST Client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023360" y="2139696"/>
            <a:ext cx="2331720" cy="1572768"/>
          </a:xfrm>
          <a:prstGeom prst="roundRect">
            <a:avLst>
              <a:gd name="adj" fmla="val 6977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295144"/>
            <a:ext cx="1965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 Security Filter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87952" y="2660904"/>
            <a:ext cx="200253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valida token, certificado y rol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458200" y="233172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protegida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22792" y="2852928"/>
            <a:ext cx="16824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/api/esb/partidos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04672" y="4206240"/>
            <a:ext cx="237744" cy="23774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" y="422910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3856" y="4224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Authorization: Bearer esb-token-2026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04672" y="4590288"/>
            <a:ext cx="237744" cy="23774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" y="46131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33856" y="46085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X-Client-Certificate: SOA-CLIENT-CERT-2026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04672" y="4974336"/>
            <a:ext cx="237744" cy="23774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" y="49971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33856" y="49926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X-Correlation-Id: demo-001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5669280" y="4297680"/>
            <a:ext cx="51206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33F"/>
                </a:solidFill>
              </a:rPr>
              <a:t>En producción, la cabecera X-Client-Certificate debe reemplazarse por certificados reales con HTTPS/TLS o mTLS.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5641848" y="504748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88152" y="5193792"/>
            <a:ext cx="49194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 -H "Authorization: Bearer esb-token-2026"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"X-Client-Certificate: SOA-CLIENT-CERT-2026"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"X-Correlation-Id: demo-001"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http://localhost:8080/api/esb/partidos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Enrutamiento y orquestación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ESB decide si llama a un servicio SOAP o compone varios para una respuesta consolidada.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2560320" cy="594360"/>
          </a:xfrm>
          <a:prstGeom prst="roundRect">
            <a:avLst>
              <a:gd name="adj" fmla="val 18462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/api/esb/partidos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719072"/>
            <a:ext cx="868680" cy="0"/>
          </a:xfrm>
          <a:prstGeom prst="line">
            <a:avLst/>
          </a:prstGeom>
          <a:noFill/>
          <a:ln w="1651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07408" y="1417320"/>
            <a:ext cx="21031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Partidos SOAP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Routing simple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2944368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99816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/api/esb/partidos/P001/detalle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03320" y="3273552"/>
            <a:ext cx="73152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0" y="2862072"/>
            <a:ext cx="1874520" cy="822960"/>
          </a:xfrm>
          <a:prstGeom prst="roundRect">
            <a:avLst>
              <a:gd name="adj" fmla="val 13333"/>
            </a:avLst>
          </a:prstGeom>
          <a:solidFill>
            <a:srgbClr val="1E63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17520"/>
            <a:ext cx="1508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 orquesta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273552"/>
            <a:ext cx="777240" cy="-896112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3273552"/>
            <a:ext cx="7772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3273552"/>
            <a:ext cx="777240" cy="896112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24928" y="2066544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7808" y="2221992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24928" y="301752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317296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24928" y="3968496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4123944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Estadísticas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50749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</a:rPr>
              <a:t>Respuesta JSON consolidada: partido + local + visitante + métricas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Transformación y mediación de protocolos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consume REST/JSON; el ESB transforma e invoca SOAP/XML.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1600200"/>
            <a:ext cx="1901952" cy="731520"/>
          </a:xfrm>
          <a:prstGeom prst="roundRect">
            <a:avLst>
              <a:gd name="adj" fmla="val 15000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55648"/>
            <a:ext cx="15361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request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2121408"/>
            <a:ext cx="157276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GET /partidos/P001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724912" y="1965960"/>
            <a:ext cx="978408" cy="0"/>
          </a:xfrm>
          <a:prstGeom prst="line">
            <a:avLst/>
          </a:prstGeom>
          <a:noFill/>
          <a:ln w="1778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1600200"/>
            <a:ext cx="1965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SOAP Envelope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05072" y="2121408"/>
            <a:ext cx="163677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XML request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925312" y="1965960"/>
            <a:ext cx="978408" cy="0"/>
          </a:xfrm>
          <a:prstGeom prst="line">
            <a:avLst/>
          </a:prstGeom>
          <a:noFill/>
          <a:ln w="1778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59168" y="1600200"/>
            <a:ext cx="1901952" cy="73152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2048" y="1755648"/>
            <a:ext cx="15361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SOAP Service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98280" y="1965960"/>
            <a:ext cx="960120" cy="0"/>
          </a:xfrm>
          <a:prstGeom prst="line">
            <a:avLst/>
          </a:prstGeom>
          <a:noFill/>
          <a:ln w="1778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31552" y="1600200"/>
            <a:ext cx="1600200" cy="73152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1755648"/>
            <a:ext cx="1234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response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035808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3182112"/>
            <a:ext cx="4873752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&lt;soapenv:Envelope&gt;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&lt;soapenv:Body&gt;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&lt;par:getPartidoByIdRequest&gt;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&lt;id&gt;P001&lt;/id&gt;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&lt;/par:getPartidoByIdRequest&gt;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&lt;/soapenv:Body&gt;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&lt;/soapenv:Envelope&gt;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65392" y="3035808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3182112"/>
            <a:ext cx="3867912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"P001",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"local": "PER",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"visitante": "ARG",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"estado": "FINALIZADO"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25880" y="5559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F"/>
                </a:solidFill>
              </a:rPr>
              <a:t>Tecnologías usadas: Java HttpClient, XML manual/DOM Parser, DTOs Java y Jackson para JSON.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Trazabilidad y logs centralizados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ESB genera y propaga un identificador para seguir cada petición completa.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353312"/>
            <a:ext cx="2240280" cy="594360"/>
          </a:xfrm>
          <a:prstGeom prst="roundRect">
            <a:avLst>
              <a:gd name="adj" fmla="val 18462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1874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X-Correlation-Id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148840"/>
            <a:ext cx="43434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Si el cliente no lo envía, el ESB genera un UUID. Luego lo registra en MDC y lo propaga hacia SOAP.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24144" y="1472184"/>
            <a:ext cx="5102352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esb-service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 IN GET /api/esb/partidos trace=demo-001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SOAP service=partidos-service attempt=1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 OUT status=200 durationMs=43 trace=demo-001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777240" y="34564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B981"/>
                </a:solidFill>
              </a:rPr>
              <a:t>QUÉ REGISTRA EL ESB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04672" y="385876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" y="388162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Entrada y salida de requests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04672" y="422452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" y="424738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33856" y="42428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Ruta invocada y servicio SOAP destino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04672" y="459028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" y="46131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33856" y="46085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Duración, estado HTTP e intentos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804672" y="495604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" y="497890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" y="49743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Errores con correlationId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5623560" y="4041648"/>
            <a:ext cx="5303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33F"/>
                </a:solidFill>
              </a:rPr>
              <a:t>Los SOAP tienen logs básicos de Spring Boot, pero la trazabilidad global está en el ESB.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Reintentos y manejo de errores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ESB protege al cliente REST frente a fallas de servicios SOAP o errores de seguridad.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92808"/>
            <a:ext cx="960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Intento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2002536"/>
            <a:ext cx="5943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1737360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892808"/>
            <a:ext cx="960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Intento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002536"/>
            <a:ext cx="5943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1737360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892808"/>
            <a:ext cx="960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Intento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2002536"/>
            <a:ext cx="64008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05472" y="1600200"/>
            <a:ext cx="2057400" cy="82296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1755648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controlado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70064" y="2121408"/>
            <a:ext cx="17282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502 si SOAP no responde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841248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</a:rPr>
              <a:t>Configuración ejemplo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3529584"/>
            <a:ext cx="3063240" cy="1261872"/>
          </a:xfrm>
          <a:prstGeom prst="roundRect">
            <a:avLst>
              <a:gd name="adj" fmla="val 5797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675888"/>
            <a:ext cx="2770632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esb: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max-attempts: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backoff-ms: 500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</a:rPr>
              <a:t>Errores esperados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45152" y="356616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5444" y="35890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74336" y="3584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401: falta token o certificado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4645152" y="393192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5444" y="395478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74336" y="39502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403: token sin rol requerido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4645152" y="429768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5444" y="432054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74336" y="43159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404: recurso no encontrado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4645152" y="466344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5444" y="468630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74336" y="46817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502: error invocando SOAP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Gobernanza del ESB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ESB documenta y controla la integración mediante catálogo, políticas, rutas y auditoría.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2194560" cy="594360"/>
          </a:xfrm>
          <a:prstGeom prst="roundRect">
            <a:avLst>
              <a:gd name="adj" fmla="val 18462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/api/esb/catalog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01568" y="1417320"/>
            <a:ext cx="2194560" cy="594360"/>
          </a:xfrm>
          <a:prstGeom prst="roundRect">
            <a:avLst>
              <a:gd name="adj" fmla="val 18462"/>
            </a:avLst>
          </a:prstGeom>
          <a:solidFill>
            <a:srgbClr val="ECFDF5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/governance/routes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331720" cy="594360"/>
          </a:xfrm>
          <a:prstGeom prst="roundRect">
            <a:avLst>
              <a:gd name="adj" fmla="val 18462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/governance/policies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06840" y="1417320"/>
            <a:ext cx="2194560" cy="594360"/>
          </a:xfrm>
          <a:prstGeom prst="roundRect">
            <a:avLst>
              <a:gd name="adj" fmla="val 18462"/>
            </a:avLst>
          </a:prstGeom>
          <a:solidFill>
            <a:srgbClr val="FFF7ED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/governance/audits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" y="2679192"/>
            <a:ext cx="100584" cy="10058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6060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Catálogo: capacidades del ESB, operaciones expuestas y contratos integrados.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313639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0632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Rutas: endpoint REST, servicio SOAP destino, operación SOAP y transformación aplicada.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" y="35935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Políticas: autenticación, autorización, certificado, trazabilidad, logs y reintentos.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" y="40507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9776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Auditoría: correlationId, método, ruta, status, duración y rol usado.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5840" y="5074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F"/>
                </a:solidFill>
              </a:rPr>
              <a:t>Las rutas de gobernanza requieren token ADMIN.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59552" y="4864608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05856" y="5010912"/>
            <a:ext cx="4462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esb-admin-token-2026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X-Client-Certificate: SOA-CLIENT-CERT-2026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 REST: consumidor externo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REST consume el ESB y oculta la complejidad SOAP al usuario o frontend.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38074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0B981"/>
                </a:solidFill>
              </a:rPr>
              <a:t>GET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353312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/api/client/health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49240" y="13167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salud del cliente y ESB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0B981"/>
                </a:solidFill>
              </a:rPr>
              <a:t>GET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353312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/api/client/partidos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49240" y="19293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lista partidos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22960" y="260604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0B981"/>
                </a:solidFill>
              </a:rPr>
              <a:t>GET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353312" y="2523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/api/client/partidos/P001/detalle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9240" y="2542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detalle consolidado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22960" y="321868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0B981"/>
                </a:solidFill>
              </a:rPr>
              <a:t>GET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353312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/api/client/selecciones/PER/resumen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49240" y="31546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resumen de selección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22960" y="38313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0B981"/>
                </a:solidFill>
              </a:rPr>
              <a:t>GET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353312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/api/client/grupos/A/tabla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3767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tabla de posiciones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22960" y="444398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0B981"/>
                </a:solidFill>
              </a:rPr>
              <a:t>GET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353312" y="4361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/api/client/admin/governance/audits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49240" y="43799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auditoría ESB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" y="5513832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69280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Postman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40280" y="5760720"/>
            <a:ext cx="731520" cy="0"/>
          </a:xfrm>
          <a:prstGeom prst="line">
            <a:avLst/>
          </a:prstGeom>
          <a:noFill/>
          <a:ln w="1524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90672" y="5513832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5669280"/>
            <a:ext cx="1554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Client 8090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02352" y="5760720"/>
            <a:ext cx="731520" cy="0"/>
          </a:xfrm>
          <a:prstGeom prst="line">
            <a:avLst/>
          </a:prstGeom>
          <a:noFill/>
          <a:ln w="1524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61888" y="5513832"/>
            <a:ext cx="1325880" cy="502920"/>
          </a:xfrm>
          <a:prstGeom prst="roundRect">
            <a:avLst>
              <a:gd name="adj" fmla="val 21818"/>
            </a:avLst>
          </a:prstGeom>
          <a:solidFill>
            <a:srgbClr val="1E63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5669280"/>
            <a:ext cx="960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 8080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88352" y="5760720"/>
            <a:ext cx="731520" cy="0"/>
          </a:xfrm>
          <a:prstGeom prst="line">
            <a:avLst/>
          </a:prstGeom>
          <a:noFill/>
          <a:ln w="15240">
            <a:solidFill>
              <a:srgbClr val="1E63F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47888" y="5513832"/>
            <a:ext cx="1280160" cy="502920"/>
          </a:xfrm>
          <a:prstGeom prst="roundRect">
            <a:avLst>
              <a:gd name="adj" fmla="val 21818"/>
            </a:avLst>
          </a:prstGeom>
          <a:solidFill>
            <a:srgbClr val="ECFDF5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SOAP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Despliegue con Docker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componente corre en su propio contenedor y se comunica por la red de Docker Compose.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32588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partidos-service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8081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80360" y="132588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selecciones-service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8082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10912" y="132588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estadisticas-service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8083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41464" y="132588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5875">
            <a:solidFill>
              <a:srgbClr val="1E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esb-service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8080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72016" y="132588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54896" y="1481328"/>
            <a:ext cx="1463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rest-client-service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8090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2880360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026664"/>
            <a:ext cx="432511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--remove-orphans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-d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2880360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3026664"/>
            <a:ext cx="432511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esb-service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esb-service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33F"/>
                </a:solidFill>
              </a:rPr>
              <a:t>Dockerfile de cada servicio: compila con Maven + Java 21 y genera app.jar. docker-compose.yml: levanta todos los contenedores juntos.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 + ESB + SOAP + REST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56848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para la exposición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solución cumple el enfoque SOA usando ESB como capa de integración central.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1426464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4692" y="144932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43584" y="1444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Los servicios SOAP mantienen responsabilidades de negocio independientes.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914400" y="184708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" y="18699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43584" y="18653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Cada servicio tiene su propio contenedor, contrato SOAP y data local.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914400" y="2267712"/>
            <a:ext cx="237744" cy="23774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" y="229057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43584" y="22860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El ESB concentra integración, seguridad, transformación, logs, trazabilidad, errores y gobierno.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914400" y="2688336"/>
            <a:ext cx="237744" cy="237744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" y="27111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43584" y="27066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El cliente REST no consume SOAP directamente; consume el ESB.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914400" y="310896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" y="31318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43584" y="3127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La seguridad combina token Bearer y certificado técnico simulado.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14400" y="3529584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" y="355244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43584" y="35478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4155"/>
                </a:solidFill>
              </a:rPr>
              <a:t>La arquitectura facilita evolución: se pueden agregar nuevos clientes o servicios sin romper el contrato externo.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960120" y="4800600"/>
            <a:ext cx="9966960" cy="749808"/>
          </a:xfrm>
          <a:prstGeom prst="roundRect">
            <a:avLst>
              <a:gd name="adj" fmla="val 14634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5047488"/>
            <a:ext cx="9646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SOAP Services = lógica de negocio  •  ESB = integración y gobernanza  •  REST Client = consumidor externo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Antoni Style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SOA + ESB + SOAP + Cliente REST</dc:title>
  <dc:subject>Arquitectura SOA con ESB, SOAP y Cliente REST</dc:subject>
  <dc:creator>OpenAI</dc:creator>
  <cp:lastModifiedBy>OpenAI</cp:lastModifiedBy>
  <cp:revision>1</cp:revision>
  <dcterms:created xsi:type="dcterms:W3CDTF">2026-06-23T02:06:53Z</dcterms:created>
  <dcterms:modified xsi:type="dcterms:W3CDTF">2026-06-23T02:06:53Z</dcterms:modified>
</cp:coreProperties>
</file>