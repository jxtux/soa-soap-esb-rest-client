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8" y="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Arquitectura SOA con ESB, SOAP y Cliente REST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4572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Solución orientada a servicios con integración centralizada, seguridad, trazabilidad, gobernanza y despliegue en Docker.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88036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3017520"/>
            <a:ext cx="25511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REST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364991"/>
            <a:ext cx="2551176" cy="5029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Consumidor externo
Puerto 8090
JSON/HTTP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743200"/>
            <a:ext cx="2880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8031" y="2880360"/>
            <a:ext cx="25511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ESB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3227832"/>
            <a:ext cx="2551176" cy="8229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Integración SOA
Routing, seguridad, transformación
Puerto 8080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2880360"/>
            <a:ext cx="28803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14232" y="3017520"/>
            <a:ext cx="25511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SOAP 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3364991"/>
            <a:ext cx="2551176" cy="5029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Partidos • Selecciones • Estadísticas
Puertos 8081, 8082, 8083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3429000"/>
            <a:ext cx="96012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3429000"/>
            <a:ext cx="96012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Objetivo de la solución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Infraestructura SOA con servicios SOAP, ESB y cliente REST en contenedores independientes.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1. Exponer 3 servicios SOAP autónomos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470001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Partidos, Selecciones y Estadísticas: cada uno con contrato SOAP, data local y Docker propio.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1965960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2. Centralizar la integración en el ESB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313432"/>
            <a:ext cx="470001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El ESB aplica enrutamiento, transformación, seguridad, logs, trazabilidad, reintentos y gobierno.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566160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3. Aislar al consumidor externo de SOAP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913632"/>
            <a:ext cx="470001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El cliente REST no conoce WSDL, XML ni SOAP Envelope; solo consume JSON.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429000"/>
            <a:ext cx="50292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2" y="3566160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1F966E"/>
                </a:solidFill>
                <a:latin typeface="Calibri"/>
              </a:rPr>
              <a:t>4. Mantener estilo microservicios en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913632"/>
            <a:ext cx="470001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Cada SOAP es independiente; solo la integración sigue el patrón SOA con ESB.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394960"/>
            <a:ext cx="10789920" cy="59436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504688"/>
            <a:ext cx="1051560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500">
                <a:solidFill>
                  <a:srgbClr val="EBF4FF"/>
                </a:solidFill>
                <a:latin typeface="Consolas"/>
              </a:rPr>
              <a:t>Arquitectura objetivo: REST Client -&gt; ESB -&gt; SOAP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Estilo arquitectónico SOA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La solución separa capacidades de negocio como servicios y centraliza la integración mediante un bus.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30083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Servicios con contrato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3008376" cy="484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Cada servicio publica un contrato SOAP/WSDL para definir operaciones y mensajes.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28800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1965960"/>
            <a:ext cx="30083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Bajo acoplamiento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313432"/>
            <a:ext cx="3008376" cy="484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Los consumidores no llaman directamente a todos los servicios; pasan por el ESB.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28800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48471" y="1965960"/>
            <a:ext cx="30083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1F966E"/>
                </a:solidFill>
                <a:latin typeface="Calibri"/>
              </a:rPr>
              <a:t>Reutilización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2313432"/>
            <a:ext cx="3008376" cy="484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Las mismas capacidades SOAP pueden alimentar diferentes clientes y procesos.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37560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" y="3474720"/>
            <a:ext cx="30083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Composición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822191"/>
            <a:ext cx="3008376" cy="484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El ESB combina respuestas de Partidos, Selecciones y Estadísticas.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337560"/>
            <a:ext cx="33375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9431" y="3474720"/>
            <a:ext cx="30083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C43939"/>
                </a:solidFill>
                <a:latin typeface="Calibri"/>
              </a:rPr>
              <a:t>Gobierno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1" y="3822191"/>
            <a:ext cx="3008376" cy="484631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Políticas, auditoría, rutas, seguridad y trazabilidad se concentran en el ESB.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486400"/>
            <a:ext cx="10789920" cy="50292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5596128"/>
            <a:ext cx="1051560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>
                <a:solidFill>
                  <a:srgbClr val="EBF4FF"/>
                </a:solidFill>
                <a:latin typeface="Consolas"/>
              </a:rPr>
              <a:t>SOA no significa un sistema grande: significa servicios con responsabilidades claras, contratos y políticas.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Arquitectura general de componentes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Flujo principal desde el consumidor REST hasta los servicios SOAP de dominio.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880360"/>
            <a:ext cx="17282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Postman /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27832"/>
            <a:ext cx="1728216" cy="2743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cliente externo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74320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7792" y="2880360"/>
            <a:ext cx="17282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REST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3227832"/>
            <a:ext cx="1728216" cy="2743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8090
consume ESB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606040"/>
            <a:ext cx="2057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48072" y="2743200"/>
            <a:ext cx="17282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ESB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72" y="3090672"/>
            <a:ext cx="1728216" cy="2743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8080
integración SOA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55448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1" y="1691639"/>
            <a:ext cx="25968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Partidos SOAP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71231" y="2039112"/>
            <a:ext cx="2596896" cy="2743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8081
contrato WSDL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288036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71231" y="3017520"/>
            <a:ext cx="25968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Selecciones SOAP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3364991"/>
            <a:ext cx="2596896" cy="2743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8082
contrato WSDL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4206240"/>
            <a:ext cx="2926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71231" y="4343400"/>
            <a:ext cx="25968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Estadísticas SOAP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4690872"/>
            <a:ext cx="2596896" cy="27431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8083
contrato WSDL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51760" y="3154680"/>
            <a:ext cx="9144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800600" y="3154680"/>
            <a:ext cx="18288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7086600" y="1920240"/>
            <a:ext cx="320040" cy="114300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086600" y="3154680"/>
            <a:ext cx="320040" cy="9144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86600" y="3246120"/>
            <a:ext cx="320040" cy="132588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5669280"/>
            <a:ext cx="10698480" cy="475488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779008"/>
            <a:ext cx="10424159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>
                <a:solidFill>
                  <a:srgbClr val="EBF4FF"/>
                </a:solidFill>
                <a:latin typeface="Consolas"/>
              </a:rPr>
              <a:t>Postman / Frontend -&gt; REST Client -&gt; ESB -&gt; servicios SOAP: Partidos, Selecciones y Estadísticas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Responsabilidades por capa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Separación para evitar acoplamiento directo entre consumidor y SOAP.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202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30540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REST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3054096" cy="16002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0">
                <a:solidFill>
                  <a:srgbClr val="1E1E1E"/>
                </a:solidFill>
                <a:latin typeface="Calibri"/>
              </a:rPr>
              <a:t>Representa al consumidor externo.
No conoce SOAP ni WSDL.
Envía token, certificado simulado y correlation ID al ESB.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965960"/>
            <a:ext cx="30540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ESB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313432"/>
            <a:ext cx="3054096" cy="18288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0">
                <a:solidFill>
                  <a:srgbClr val="1E1E1E"/>
                </a:solidFill>
                <a:latin typeface="Calibri"/>
              </a:rPr>
              <a:t>Centraliza integración SOA.
Aplica seguridad, routing, transformación y reintentos.
Registra logs, auditoría y políticas de gobernanza.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2057400"/>
            <a:ext cx="30540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SOAP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404872"/>
            <a:ext cx="3054096" cy="16002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0">
                <a:solidFill>
                  <a:srgbClr val="1E1E1E"/>
                </a:solidFill>
                <a:latin typeface="Calibri"/>
              </a:rPr>
              <a:t>Contienen la lógica de negocio.
Cada uno es autónomo y tiene su contenedor.
Exponen contratos SOAP/WSDL.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49240"/>
            <a:ext cx="10424160" cy="50292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39" y="5458968"/>
            <a:ext cx="1014984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>
                <a:solidFill>
                  <a:srgbClr val="EBF4FF"/>
                </a:solidFill>
                <a:latin typeface="Consolas"/>
              </a:rPr>
              <a:t>Regla central: SOAP Services = lógica de negocio | ESB = integración y gobierno | REST Client = consumidor externo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Servicios SOAP de negocio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Tres servicios autónomos, cada uno con responsabilidad específica, puerto propio y data local.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Servicio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Puerto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Responsabilidad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Datos base</a:t>
                      </a:r>
                    </a:p>
                  </a:txBody>
                  <a:tcPr marL="45720" marR="45720" marT="27432" marB="27432">
                    <a:solidFill>
                      <a:srgbClr val="12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Partidos Service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8081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Gestiona partidos, fechas, sedes, resultados y estado.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P001-P006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Selecciones Service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8082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Gestiona países, grupo, ranking, entrenador y confederación.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PER, ARG, BRA, JPN, FRA, ESP</a:t>
                      </a:r>
                    </a:p>
                  </a:txBody>
                  <a:tcPr marL="45720" marR="45720" marT="27432" marB="27432"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Estadísticas Service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8083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Gestiona goles, posesión, remates, faltas, tarjetas y puntos.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E1E1E"/>
                          </a:solidFill>
                          <a:latin typeface="Calibri"/>
                        </a:defRPr>
                      </a:pPr>
                      <a:r>
                        <a:t>por partido y selección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4389120"/>
            <a:ext cx="10881360" cy="105156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4498848"/>
            <a:ext cx="10607040" cy="8503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>
                <a:solidFill>
                  <a:srgbClr val="EBF4FF"/>
                </a:solidFill>
                <a:latin typeface="Consolas"/>
              </a:rPr>
              <a:t>WSDL publicados:
http://localhost:8081/ws/partidos.wsdl
http://localhost:8082/ws/selecciones.wsdl
http://localhost:8083/ws/estadisticas.wsdl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669280"/>
            <a:ext cx="107899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300" b="1">
                <a:solidFill>
                  <a:srgbClr val="5E6770"/>
                </a:solidFill>
                <a:latin typeface="Calibri"/>
              </a:rPr>
              <a:t>Los servicios SOAP no se llaman entre sí: la composición la realiza el ESB.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ESB: capacidades implementadas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ESB concentra las responsabilidades transversales de integración SOA.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82880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2A64AF"/>
                </a:solidFill>
                <a:latin typeface="Calibri"/>
              </a:rPr>
              <a:t>1.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17627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Decide qué SOAP invocar según la ruta 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916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182880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0091A5"/>
                </a:solidFill>
                <a:latin typeface="Calibri"/>
              </a:rPr>
              <a:t>2. Transformación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17627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REST/JSON &lt;-&gt; SOAP/XML y DTOs consolidados.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1" y="182880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Calibri"/>
              </a:rPr>
              <a:t>3. Mediación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17627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Expone REST y consume SOAP internamente.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69164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08592" y="182880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F966E"/>
                </a:solidFill>
                <a:latin typeface="Calibri"/>
              </a:rPr>
              <a:t>4. 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7627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Token Bearer + certificado técnico simulado.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2004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333756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2A64AF"/>
                </a:solidFill>
                <a:latin typeface="Calibri"/>
              </a:rPr>
              <a:t>5. Trazabilidad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368503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X-Correlation-Id, MDC y propagación a SOAP.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2004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47872" y="333756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0091A5"/>
                </a:solidFill>
                <a:latin typeface="Calibri"/>
              </a:rPr>
              <a:t>6.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368503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Entrada, salida, duración, rutas e intentos.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2004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1" y="333756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E67E22"/>
                </a:solidFill>
                <a:latin typeface="Calibri"/>
              </a:rPr>
              <a:t>7. Reintentos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1" y="368503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Reejecuta llamadas SOAP ante fallas temporales.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200400"/>
            <a:ext cx="26060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08592" y="3337560"/>
            <a:ext cx="22768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F966E"/>
                </a:solidFill>
                <a:latin typeface="Calibri"/>
              </a:rPr>
              <a:t>8. Gobernanza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685032"/>
            <a:ext cx="2276856" cy="5486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50" b="0">
                <a:solidFill>
                  <a:srgbClr val="1E1E1E"/>
                </a:solidFill>
                <a:latin typeface="Calibri"/>
              </a:rPr>
              <a:t>Catálogo, políticas, rutas y auditoría.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Seguridad técnica: ruta protegida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Doble validación: autenticación por token y confianza técnica por certificado simulado.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057400"/>
            <a:ext cx="2414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Consumidor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04872"/>
            <a:ext cx="2414016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Postman o REST 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82880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65960"/>
            <a:ext cx="28712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ESB Security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13432"/>
            <a:ext cx="2871216" cy="5943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Valida token, certificado y 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920240"/>
            <a:ext cx="27432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05672" y="2057400"/>
            <a:ext cx="2414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Ruta protegida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5672" y="2404872"/>
            <a:ext cx="2414016" cy="3657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/api/esb/partidos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29000" y="2423160"/>
            <a:ext cx="105156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680960" y="2423160"/>
            <a:ext cx="96012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3474720"/>
            <a:ext cx="5029200" cy="100584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Authorization: Bearer esb-token-2026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X-Client-Certificate: SOA-CLIENT-CERT-2026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X-Correlation-Id: demo-001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429000"/>
            <a:ext cx="5212080" cy="9601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C43939"/>
                </a:solidFill>
                <a:latin typeface="Calibri"/>
              </a:rPr>
              <a:t>En producción, la cabecera X-Client-Certificate debe reemplazarse por certificados reales con HTTPS/TLS o mTLS.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892040"/>
            <a:ext cx="10835640" cy="86868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001768"/>
            <a:ext cx="10561319" cy="6675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00">
                <a:solidFill>
                  <a:srgbClr val="EBF4FF"/>
                </a:solidFill>
                <a:latin typeface="Consolas"/>
              </a:rPr>
              <a:t>curl.exe -H "Authorization: Bearer esb-token-2026" -H "X-Client-Certificate: SOA-CLIENT-CERT-2026" -H "X-Correlation-Id: demo-001" http://localhost:8080/api/esb/partidos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Enrutamiento y orquestación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ESB decide si llama a un servicio SOAP o compone varios para una respuesta consolidada.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2918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29626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GET /api/esb/partidos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2962656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Routing simple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77639" y="2331720"/>
            <a:ext cx="1143001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1828800"/>
            <a:ext cx="29260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85231" y="1965960"/>
            <a:ext cx="25968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Partidos SOAP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1" y="2313432"/>
            <a:ext cx="2596896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Obtiene listado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35661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931920"/>
            <a:ext cx="323697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GET /api/esb/partidos/P001/detalle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279392"/>
            <a:ext cx="3236976" cy="4114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Orquestación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51960" y="4297680"/>
            <a:ext cx="96012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365760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76672" y="3794760"/>
            <a:ext cx="131673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Partido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142232"/>
            <a:ext cx="131673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SOAP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365760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05472" y="3794760"/>
            <a:ext cx="131673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Selecciones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4142232"/>
            <a:ext cx="131673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SOAP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657600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34272" y="3794760"/>
            <a:ext cx="131673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Estadísticas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272" y="4142232"/>
            <a:ext cx="131673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SOAP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486400"/>
            <a:ext cx="10789920" cy="54864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596128"/>
            <a:ext cx="1051560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300">
                <a:solidFill>
                  <a:srgbClr val="EBF4FF"/>
                </a:solidFill>
                <a:latin typeface="Consolas"/>
              </a:rPr>
              <a:t>Respuesta JSON consolidada: partido + local + visitante + métricas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Transformación y mediación de protocolos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cliente consume REST/JSON; el ESB transforma e invoca SOAP/XML.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011679"/>
            <a:ext cx="19568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REST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59152"/>
            <a:ext cx="195681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GET /partidos/P001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2286000"/>
            <a:ext cx="77724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03320" y="1874519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67911" y="2011679"/>
            <a:ext cx="19568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SOAP Envelope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359152"/>
            <a:ext cx="195681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XML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286000"/>
            <a:ext cx="77724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766560" y="1874519"/>
            <a:ext cx="22860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31152" y="2011679"/>
            <a:ext cx="19568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SOAP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359152"/>
            <a:ext cx="195681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Procesa XML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" y="2286000"/>
            <a:ext cx="777240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829800" y="1874519"/>
            <a:ext cx="1645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94392" y="2011679"/>
            <a:ext cx="131673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1F966E"/>
                </a:solidFill>
                <a:latin typeface="Calibri"/>
              </a:rPr>
              <a:t>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94392" y="2359152"/>
            <a:ext cx="131673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response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54680"/>
            <a:ext cx="5394960" cy="169164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264408"/>
            <a:ext cx="5120640" cy="1490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00">
                <a:solidFill>
                  <a:srgbClr val="EBF4FF"/>
                </a:solidFill>
                <a:latin typeface="Consolas"/>
              </a:rPr>
              <a:t>&lt;soapenv:Envelope&gt;
  &lt;soapenv:Body&gt;
    &lt;par:getPartidoByIdRequest&gt;
      &lt;id&gt;P001&lt;/id&gt;
    &lt;/par:getPartidoByIdRequest&gt;
  &lt;/soapenv:Body&gt;
&lt;/soapenv:Envelope&gt;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5074920" cy="169164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264408"/>
            <a:ext cx="4800600" cy="1490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00">
                <a:solidFill>
                  <a:srgbClr val="EBF4FF"/>
                </a:solidFill>
                <a:latin typeface="Consolas"/>
              </a:rPr>
              <a:t>{
  "id": "P001",
  "local": "PER",
  "visitante": "ARG",
  "estado": "FINALIZADO"
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5E6770"/>
                </a:solidFill>
                <a:latin typeface="Calibri"/>
              </a:rPr>
              <a:t>Tecnologías usadas: Java HttpClient, XML manual/DOM Parser, DTOs Java y Jackson para JSON.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Trazabilidad y logs centralizados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ESB genera y propaga un identificador para seguir cada petición completa.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931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65960"/>
            <a:ext cx="360273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X-Correlation-Id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3602736" cy="7772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Si el cliente no lo envía, el ESB genera un UUID. Luego lo registra en MDC y lo propaga hacia SOAP.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783080"/>
            <a:ext cx="6492240" cy="141732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892807"/>
            <a:ext cx="6217920" cy="12161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000">
                <a:solidFill>
                  <a:srgbClr val="EBF4FF"/>
                </a:solidFill>
                <a:latin typeface="Consolas"/>
              </a:rPr>
              <a:t>docker logs -f esb-service
ESB IN GET /api/esb/partidos trace=demo-001
Routing SOAP service=partidos-service attempt=1
ESB OUT status=200 durationMs=43 trace=demo-001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93776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Entrada y salida de requests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Ruta invocada y servicio SOAP destino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Duración, estado HTTP e intentos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Errores con correlationId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977639"/>
            <a:ext cx="5212080" cy="82296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600" b="1">
                <a:solidFill>
                  <a:srgbClr val="122240"/>
                </a:solidFill>
                <a:latin typeface="Calibri"/>
              </a:rPr>
              <a:t>Los SOAP tienen logs básicos de Spring Boot, pero la trazabilidad global está en el ESB.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Reintentos y manejo de errores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ESB protege al cliente REST frente a fallas de servicios SOAP o errores de seguridad.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18196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Intento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1819656" cy="18287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SOAP call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2221992"/>
            <a:ext cx="576072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39" y="182880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85031" y="1965960"/>
            <a:ext cx="18196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Intento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313432"/>
            <a:ext cx="1819656" cy="18287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SOAP call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79" y="2221992"/>
            <a:ext cx="576073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59" y="182880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1" y="1965960"/>
            <a:ext cx="18196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Intento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2313432"/>
            <a:ext cx="1819656" cy="18287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SOAP call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8200" y="2221992"/>
            <a:ext cx="576072" cy="0"/>
          </a:xfrm>
          <a:prstGeom prst="line">
            <a:avLst/>
          </a:prstGeom>
          <a:ln w="25400">
            <a:solidFill>
              <a:srgbClr val="5E67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98280" y="1828800"/>
            <a:ext cx="21488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1965960"/>
            <a:ext cx="18196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C43939"/>
                </a:solidFill>
                <a:latin typeface="Calibri"/>
              </a:rPr>
              <a:t>Error controlado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2313432"/>
            <a:ext cx="1819656" cy="18287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502 si SOAP no responde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154680"/>
            <a:ext cx="5029200" cy="105156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264408"/>
            <a:ext cx="4754880" cy="8503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>
                <a:solidFill>
                  <a:srgbClr val="EBF4FF"/>
                </a:solidFill>
                <a:latin typeface="Consolas"/>
              </a:rPr>
              <a:t>soa:
  esb:
    retry:
      max-attempts: 3
      backoff-ms: 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54680"/>
            <a:ext cx="4389120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401: falta token o certificado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403: token sin rol requerido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404: recurso no encontrado</a:t>
            </a:r>
          </a:p>
          <a:p>
            <a:pPr>
              <a:spcAft>
                <a:spcPts val="500"/>
              </a:spcAft>
              <a:defRPr sz="1300">
                <a:solidFill>
                  <a:srgbClr val="1E1E1E"/>
                </a:solidFill>
                <a:latin typeface="Calibri"/>
              </a:defRPr>
            </a:pPr>
            <a:r>
              <a:t>• 502: error invocando SOAP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Gobernanza del ESB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ESB documenta y controla la integración mediante catálogo, políticas, rutas y auditoría.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920240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2A64AF"/>
                </a:solidFill>
                <a:latin typeface="Calibri"/>
              </a:rPr>
              <a:t>/api/esb/catalog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267712"/>
            <a:ext cx="4700016" cy="45719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Capacidades del ESB y operaciones expuestas.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1" y="1920240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0091A5"/>
                </a:solidFill>
                <a:latin typeface="Calibri"/>
              </a:rPr>
              <a:t>/governance/routes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267712"/>
            <a:ext cx="4700016" cy="45719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Endpoint REST, SOAP destino, operación y transformación.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3383279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/governance/policies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730752"/>
            <a:ext cx="4700016" cy="45719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Autenticación, autorización, certificado, trazabilidad, logs y reintentos.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46120"/>
            <a:ext cx="50292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28231" y="3383279"/>
            <a:ext cx="470001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1F966E"/>
                </a:solidFill>
                <a:latin typeface="Calibri"/>
              </a:rPr>
              <a:t>/governance/audits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1" y="3730752"/>
            <a:ext cx="4700016" cy="45719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CorrelationId, método, ruta, status, duración y rol usado.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66360"/>
            <a:ext cx="10789920" cy="68580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5276088"/>
            <a:ext cx="10515600" cy="4846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100">
                <a:solidFill>
                  <a:srgbClr val="EBF4FF"/>
                </a:solidFill>
                <a:latin typeface="Consolas"/>
              </a:rPr>
              <a:t>Rutas de gobernanza: requieren token ADMIN
Authorization: Bearer esb-admin-token-2026
X-Client-Certificate: SOA-CLIENT-CERT-2026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Cliente REST: consumidor externo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El cliente REST consume el ESB y oculta la complejidad SOAP al usuario o frontend.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200" b="1">
                <a:solidFill>
                  <a:srgbClr val="1F966E"/>
                </a:solidFill>
                <a:latin typeface="Calibri"/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00200"/>
            <a:ext cx="50292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22240"/>
                </a:solidFill>
                <a:latin typeface="Calibri"/>
              </a:rPr>
              <a:t>/api/client/health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5E6770"/>
                </a:solidFill>
                <a:latin typeface="Calibri"/>
              </a:rPr>
              <a:t>salud del cliente y ESB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200" b="1">
                <a:solidFill>
                  <a:srgbClr val="1F966E"/>
                </a:solidFill>
                <a:latin typeface="Calibri"/>
              </a:rP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40280"/>
            <a:ext cx="50292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22240"/>
                </a:solidFill>
                <a:latin typeface="Calibri"/>
              </a:rPr>
              <a:t>/api/client/partidos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40280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5E6770"/>
                </a:solidFill>
                <a:latin typeface="Calibri"/>
              </a:rPr>
              <a:t>lista partidos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200" b="1">
                <a:solidFill>
                  <a:srgbClr val="1F966E"/>
                </a:solidFill>
                <a:latin typeface="Calibri"/>
              </a:rP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880360"/>
            <a:ext cx="50292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22240"/>
                </a:solidFill>
                <a:latin typeface="Calibri"/>
              </a:rPr>
              <a:t>/api/client/partidos/P001/detalle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880360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5E6770"/>
                </a:solidFill>
                <a:latin typeface="Calibri"/>
              </a:rPr>
              <a:t>detalle consolidado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20439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200" b="1">
                <a:solidFill>
                  <a:srgbClr val="1F966E"/>
                </a:solidFill>
                <a:latin typeface="Calibri"/>
              </a:rPr>
              <a:t>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520439"/>
            <a:ext cx="50292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22240"/>
                </a:solidFill>
                <a:latin typeface="Calibri"/>
              </a:rPr>
              <a:t>/api/client/selecciones/PER/resumen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20439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5E6770"/>
                </a:solidFill>
                <a:latin typeface="Calibri"/>
              </a:rPr>
              <a:t>resumen de selección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200" b="1">
                <a:solidFill>
                  <a:srgbClr val="1F966E"/>
                </a:solidFill>
                <a:latin typeface="Calibri"/>
              </a:rPr>
              <a:t>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60520"/>
            <a:ext cx="50292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22240"/>
                </a:solidFill>
                <a:latin typeface="Calibri"/>
              </a:rPr>
              <a:t>/api/client/grupos/A/tabla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160520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5E6770"/>
                </a:solidFill>
                <a:latin typeface="Calibri"/>
              </a:rPr>
              <a:t>tabla de posiciones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00600"/>
            <a:ext cx="9144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200" b="1">
                <a:solidFill>
                  <a:srgbClr val="1F966E"/>
                </a:solidFill>
                <a:latin typeface="Calibri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800600"/>
            <a:ext cx="502920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300" b="1">
                <a:solidFill>
                  <a:srgbClr val="122240"/>
                </a:solidFill>
                <a:latin typeface="Calibri"/>
              </a:rPr>
              <a:t>/api/client/admin/governance/audits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800600"/>
            <a:ext cx="438912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5E6770"/>
                </a:solidFill>
                <a:latin typeface="Calibri"/>
              </a:rPr>
              <a:t>auditoría ESB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5257800"/>
            <a:ext cx="292608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74152" y="5394960"/>
            <a:ext cx="259689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500" b="1">
                <a:solidFill>
                  <a:srgbClr val="E67E22"/>
                </a:solidFill>
                <a:latin typeface="Calibri"/>
              </a:rPr>
              <a:t>Flujo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4152" y="5742432"/>
            <a:ext cx="2596896" cy="91439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0">
                <a:solidFill>
                  <a:srgbClr val="1E1E1E"/>
                </a:solidFill>
                <a:latin typeface="Calibri"/>
              </a:rPr>
              <a:t>Postman -&gt; REST Client 8090 -&gt; ESB 8080 -&gt; SOAP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Despliegue con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Cada componente corre en su propio contenedor y se comunica por la red de Docker Compose.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965960"/>
            <a:ext cx="15910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1">
                <a:solidFill>
                  <a:srgbClr val="2A64AF"/>
                </a:solidFill>
                <a:latin typeface="Calibri"/>
              </a:rPr>
              <a:t>partidos-service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13432"/>
            <a:ext cx="159105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8081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288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1965960"/>
            <a:ext cx="15910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1">
                <a:solidFill>
                  <a:srgbClr val="2A64AF"/>
                </a:solidFill>
                <a:latin typeface="Calibri"/>
              </a:rPr>
              <a:t>selecciones-service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2313432"/>
            <a:ext cx="159105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8082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288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5232" y="1965960"/>
            <a:ext cx="15910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1">
                <a:solidFill>
                  <a:srgbClr val="2A64AF"/>
                </a:solidFill>
                <a:latin typeface="Calibri"/>
              </a:rPr>
              <a:t>estadisticas-service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159105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8083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288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2" y="1965960"/>
            <a:ext cx="15910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1">
                <a:solidFill>
                  <a:srgbClr val="E67E22"/>
                </a:solidFill>
                <a:latin typeface="Calibri"/>
              </a:rPr>
              <a:t>esb-service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2313432"/>
            <a:ext cx="159105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8080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8288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5792" y="1965960"/>
            <a:ext cx="1591056" cy="2743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100" b="1">
                <a:solidFill>
                  <a:srgbClr val="0091A5"/>
                </a:solidFill>
                <a:latin typeface="Calibri"/>
              </a:rPr>
              <a:t>rest-client-service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5792" y="2313432"/>
            <a:ext cx="1591056" cy="22860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8090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429000"/>
            <a:ext cx="10789920" cy="123444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3538728"/>
            <a:ext cx="10515600" cy="10332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200">
                <a:solidFill>
                  <a:srgbClr val="EBF4FF"/>
                </a:solidFill>
                <a:latin typeface="Consolas"/>
              </a:rPr>
              <a:t>docker compose down --remove-orphans
docker compose up --build -d
docker ps
docker logs -f esb-service
docker compose logs -f esb-service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66360"/>
            <a:ext cx="1069848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ctr"/>
            <a:r>
              <a:rPr sz="1300" b="1">
                <a:solidFill>
                  <a:srgbClr val="5E6770"/>
                </a:solidFill>
                <a:latin typeface="Calibri"/>
              </a:rPr>
              <a:t>Dockerfile de cada servicio: compila con Maven + Java 21 y genera app.jar. docker-compose.yml: levanta todos los contenedores juntos.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2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84048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000" b="1">
                <a:solidFill>
                  <a:srgbClr val="FFFFFF"/>
                </a:solidFill>
                <a:latin typeface="Calibri"/>
              </a:rPr>
              <a:t>SOA + ESB + SOAP +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109728"/>
            <a:ext cx="731520" cy="256032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0789920" cy="50292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2800" b="1">
                <a:solidFill>
                  <a:srgbClr val="122240"/>
                </a:solidFill>
                <a:latin typeface="Calibri"/>
              </a:rPr>
              <a:t>Conclusiones para la exposición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10698480" cy="32004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1400" b="0">
                <a:solidFill>
                  <a:srgbClr val="5E6770"/>
                </a:solidFill>
                <a:latin typeface="Calibri"/>
              </a:rPr>
              <a:t>La solución cumple el enfoque SOA usando ESB como capa de integración central.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34747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Los servicios SOAP mantienen responsabilidades de negocio independientes.</a:t>
            </a:r>
          </a:p>
          <a:p>
            <a:pPr>
              <a:spcAft>
                <a:spcPts val="5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Cada servicio tiene su propio contenedor, contrato SOAP y data local.</a:t>
            </a:r>
          </a:p>
          <a:p>
            <a:pPr>
              <a:spcAft>
                <a:spcPts val="5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El ESB concentra integración, seguridad, transformación, logs, trazabilidad, errores y gobierno.</a:t>
            </a:r>
          </a:p>
          <a:p>
            <a:pPr>
              <a:spcAft>
                <a:spcPts val="5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El cliente REST no consume SOAP directamente; consume el ESB.</a:t>
            </a:r>
          </a:p>
          <a:p>
            <a:pPr>
              <a:spcAft>
                <a:spcPts val="5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La seguridad combina token Bearer y certificado técnico simulado.</a:t>
            </a:r>
          </a:p>
          <a:p>
            <a:pPr>
              <a:spcAft>
                <a:spcPts val="500"/>
              </a:spcAft>
              <a:defRPr sz="1700">
                <a:solidFill>
                  <a:srgbClr val="1E1E1E"/>
                </a:solidFill>
                <a:latin typeface="Calibri"/>
              </a:defRPr>
            </a:pPr>
            <a:r>
              <a:t>• La arquitectura permite agregar nuevos clientes o servicios sin romper el contrato externo.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86400"/>
            <a:ext cx="10515600" cy="594360"/>
          </a:xfrm>
          <a:prstGeom prst="roundRect">
            <a:avLst/>
          </a:prstGeom>
          <a:solidFill>
            <a:srgbClr val="1C2330"/>
          </a:solidFill>
          <a:ln>
            <a:solidFill>
              <a:srgbClr val="3A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596128"/>
            <a:ext cx="1024128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r>
              <a:rPr sz="1300">
                <a:solidFill>
                  <a:srgbClr val="EBF4FF"/>
                </a:solidFill>
                <a:latin typeface="Consolas"/>
              </a:rPr>
              <a:t>SOAP Services = lógica de negocio  |  ESB = integración y gobernanza  |  REST Client = consumidor externo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A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6858000" cy="182880"/>
          </a:xfrm>
          <a:prstGeom prst="rect">
            <a:avLst/>
          </a:prstGeom>
          <a:noFill/>
        </p:spPr>
        <p:txBody>
          <a:bodyPr wrap="square" lIns="64008" tIns="36576" rIns="64008" bIns="36576">
            <a:spAutoFit/>
          </a:bodyPr>
          <a:lstStyle/>
          <a:p>
            <a:r>
              <a:rPr sz="800" b="0">
                <a:solidFill>
                  <a:srgbClr val="5E6770"/>
                </a:solidFill>
                <a:latin typeface="Calibri"/>
              </a:rPr>
              <a:t>Arquitectura SOA con ESB, servicios SOAP y cliente 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1928</Words>
  <Application>Microsoft Office PowerPoint</Application>
  <PresentationFormat>Panorámica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</cp:lastModifiedBy>
  <cp:revision>1</cp:revision>
  <dcterms:created xsi:type="dcterms:W3CDTF">2013-01-27T09:14:16Z</dcterms:created>
  <dcterms:modified xsi:type="dcterms:W3CDTF">2026-06-23T02:35:06Z</dcterms:modified>
  <cp:category/>
</cp:coreProperties>
</file>